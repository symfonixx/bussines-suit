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640080"/>
            <a:ext cx="4251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Symfonix Business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منصة واحدة لإدارة كل وظائف الأعمال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9784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0">
                <a:solidFill>
                  <a:srgbClr val="CBD5E1"/>
                </a:solidFill>
                <a:latin typeface="Arial"/>
              </a:rPr>
              <a:t>CRM، المشاريع، المالية، الضرائب، الموارد البشرية، الدعم، التقارير والموقع العام في نظام معياري واحد.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4160520"/>
            <a:ext cx="210312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427024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200" b="1">
                <a:solidFill>
                  <a:srgbClr val="06B6D4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663440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Arial"/>
              </a:rPr>
              <a:t>وحدة أعمال مترابطة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160520"/>
            <a:ext cx="210312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27024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200" b="1">
                <a:solidFill>
                  <a:srgbClr val="10B981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663440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Arial"/>
              </a:rPr>
              <a:t>قاعدة بيانات موحدة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160520"/>
            <a:ext cx="210312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427024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200" b="1">
                <a:solidFill>
                  <a:srgbClr val="F59E0B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663440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Arial"/>
              </a:rPr>
              <a:t>لغات جاهزة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bstr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Symfonix Business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000" b="1">
                <a:solidFill>
                  <a:srgbClr val="0A0F1A"/>
                </a:solidFill>
                <a:latin typeface="Arial"/>
              </a:rPr>
              <a:t>تحدي العملاء اليوم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أغلب الشركات تنمو فوق أدوات متفرقة لا تتحدث مع بعضها.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48463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45952" y="1737360"/>
            <a:ext cx="109728" cy="11155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01952"/>
            <a:ext cx="4434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جزر 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بيانات العميل تختلف بين المبيعات، المالية والدعم.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737360"/>
            <a:ext cx="48463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96712" y="1737360"/>
            <a:ext cx="109728" cy="11155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1901952"/>
            <a:ext cx="4434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تكلفة تكامل عالية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04288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ملفات CSV، Zapier، Webhooks ومتابعات يدوية متكررة.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246120"/>
            <a:ext cx="48463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45952" y="3246120"/>
            <a:ext cx="10972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410712"/>
            <a:ext cx="4434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صلاحيات مشتتة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13048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كل نظام له مستخدمون وأدوار وقواعد وصول منفصلة.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246120"/>
            <a:ext cx="48463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96712" y="3246120"/>
            <a:ext cx="109728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410712"/>
            <a:ext cx="4434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تقارير غير موحدة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813048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الإدارة لا ترى صورة لحظية تجمع الإيرادات، المشاريع والفريق.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vi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Symfonix Business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الحل: منصة تشغيل موحدة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601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0">
                <a:solidFill>
                  <a:srgbClr val="CBD5E1"/>
                </a:solidFill>
                <a:latin typeface="Arial"/>
              </a:rPr>
              <a:t>Symfonix يربط فرق المبيعات، التنفيذ، المالية وخدمة العملاء داخل تجربة واحدة.</a:t>
            </a:r>
          </a:p>
        </p:txBody>
      </p:sp>
      <p:pic>
        <p:nvPicPr>
          <p:cNvPr id="9" name="Picture 8" descr="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486400" cy="3429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37960" y="1737360"/>
            <a:ext cx="470916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37392" y="1737360"/>
            <a:ext cx="109728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01952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تدفق واحد للعميل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04288"/>
            <a:ext cx="4297680" cy="4846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من العميل المحتمل إلى عرض السعر، المشروع، الفاتورة والدعم بدون إعادة إدخال البيانات.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063240"/>
            <a:ext cx="470916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37392" y="3063240"/>
            <a:ext cx="109728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227832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صلاحيات موحدة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630168"/>
            <a:ext cx="4297680" cy="4846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كتالوج صلاحيات granular مبني على Spatie Permission ويعمل عبر كل الوحدات.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389120"/>
            <a:ext cx="470916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37392" y="4389120"/>
            <a:ext cx="10972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53712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قابلية توسع معيارية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956048"/>
            <a:ext cx="4297680" cy="4846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فعّل ما تحتاجه الآن، وأضف وحدات أخرى مع نمو الشركة والفروع.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Symfonix Business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000" b="1">
                <a:solidFill>
                  <a:srgbClr val="0A0F1A"/>
                </a:solidFill>
                <a:latin typeface="Arial"/>
              </a:rPr>
              <a:t>خريطة الوحدات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كل وحدة مستقلة في الكود، ومتكاملة على مستوى البيانات والصلاحيات.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148840"/>
            <a:ext cx="4023360" cy="1143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331720"/>
            <a:ext cx="3566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المحرك الأساسي
Core + 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6336" y="2542032"/>
            <a:ext cx="1207008" cy="40233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2633472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94545" y="3230083"/>
            <a:ext cx="1207008" cy="40233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49409" y="3321523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Finance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0001" y="3799165"/>
            <a:ext cx="1207008" cy="40233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4865" y="3890605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HR /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4670" y="4150877"/>
            <a:ext cx="1207008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9534" y="4242317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Tax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921" y="4224405"/>
            <a:ext cx="1207008" cy="40233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6785" y="4315845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2716" y="4007035"/>
            <a:ext cx="1207008" cy="40233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7580" y="4098475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Project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85301" y="3536353"/>
            <a:ext cx="1207008" cy="40233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165" y="3627793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97095" y="2893743"/>
            <a:ext cx="1207008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1959" y="2985183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97095" y="2190320"/>
            <a:ext cx="1207008" cy="40233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1959" y="2281760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CMS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85301" y="1547710"/>
            <a:ext cx="1207008" cy="40233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0165" y="1639150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2715" y="1077028"/>
            <a:ext cx="1207008" cy="40233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7579" y="1168468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Team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51921" y="859658"/>
            <a:ext cx="1207008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6785" y="951098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Testimonials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34670" y="933186"/>
            <a:ext cx="1207008" cy="40233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9534" y="1024626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Search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00001" y="1284898"/>
            <a:ext cx="1207008" cy="40233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4865" y="1376338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Portal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94545" y="1853980"/>
            <a:ext cx="1207008" cy="40233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9409" y="1945420"/>
            <a:ext cx="1097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Integrations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Symfonix Business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محرك الإيرادات: CRM والتسويق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0">
                <a:solidFill>
                  <a:srgbClr val="CBD5E1"/>
                </a:solidFill>
                <a:latin typeface="Arial"/>
              </a:rPr>
              <a:t>إدارة دورة البيع كاملة من أول تواصل حتى الإغلاق والمتابعة.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91640"/>
            <a:ext cx="4663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45952" y="1691640"/>
            <a:ext cx="10972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56232"/>
            <a:ext cx="4251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Pipeline مرئي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258568"/>
            <a:ext cx="42519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مراحل بيع واضحة، Kanban، تعيين مسؤوليات وسجل أنشطة.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880360"/>
            <a:ext cx="4663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45952" y="2880360"/>
            <a:ext cx="109728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044952"/>
            <a:ext cx="4251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عروض أسعار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447288"/>
            <a:ext cx="42519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بنود، خصومات، ضرائب ورابط عميل للقبول أو الرفض.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069080"/>
            <a:ext cx="4663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45952" y="4069080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233672"/>
            <a:ext cx="4251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تسويق Email وWhatsApp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636008"/>
            <a:ext cx="42519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حملات مجدولة وقوالب Meta Cloud API مع سجل تسليم.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645920"/>
            <a:ext cx="5029200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2057400"/>
            <a:ext cx="1371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057400"/>
            <a:ext cx="914400" cy="228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2834640"/>
            <a:ext cx="1371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Proposal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834640"/>
            <a:ext cx="1280160" cy="2286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1371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Negotiation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3611880"/>
            <a:ext cx="155448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389120"/>
            <a:ext cx="1371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Closed Won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4389120"/>
            <a:ext cx="192024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0749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>
                <a:solidFill>
                  <a:srgbClr val="CBD5E1"/>
                </a:solidFill>
                <a:latin typeface="Arial"/>
              </a:rPr>
              <a:t>توقعات مبيعات + لوحة CRM قابلة للتخصيص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Symfonix Business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000" b="1">
                <a:solidFill>
                  <a:srgbClr val="0A0F1A"/>
                </a:solidFill>
                <a:latin typeface="Arial"/>
              </a:rPr>
              <a:t>مالية، ضرائب وتقارير في نفس المسار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المعاملات المالية ترتبط بالصفقات، المنتجات، الرواتب والضرائب بدون فصل البيانات.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45952" y="1600200"/>
            <a:ext cx="109728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64792"/>
            <a:ext cx="4343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Multi-currency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67128"/>
            <a:ext cx="4343400" cy="4846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عملة محاسبة أساسية، عملة للمعاملة، وعملة عرض للمستخدم مع حفظ سعر الصرف وقت الترحيل.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45952" y="292608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090672"/>
            <a:ext cx="4343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Tax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493008"/>
            <a:ext cx="4343400" cy="4846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ضريبة مخرجات ومدخلات، معدلات شاملة/غير شاملة وتقارير إقرار.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5196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45952" y="4251960"/>
            <a:ext cx="10972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416552"/>
            <a:ext cx="4343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PDF / CSV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818888"/>
            <a:ext cx="4343400" cy="4846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تقارير مالية، مبيعات، تسويق، عمليات وموظفين قابلة للتصدير.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600200"/>
            <a:ext cx="50749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075688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Arial"/>
              </a:rPr>
              <a:t>إيرادات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2103120"/>
            <a:ext cx="393192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825495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Arial"/>
              </a:rPr>
              <a:t>فواتير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2852927"/>
            <a:ext cx="3108960" cy="2560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575303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Arial"/>
              </a:rPr>
              <a:t>مصروفات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3602735"/>
            <a:ext cx="237744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32511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Arial"/>
              </a:rPr>
              <a:t>تحصيل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4352544"/>
            <a:ext cx="356616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Symfonix Business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تشغيل يومي أسرع للفرق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0">
                <a:solidFill>
                  <a:srgbClr val="CBD5E1"/>
                </a:solidFill>
                <a:latin typeface="Arial"/>
              </a:rPr>
              <a:t>الموارد البشرية، المشاريع، الدعم وبوابة العميل تعمل فوق نفس سجل العميل والموظف.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466344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54512" y="1691640"/>
            <a:ext cx="10972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56232"/>
            <a:ext cx="4251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HR + Fingerprint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58568"/>
            <a:ext cx="42519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ملفات موظفين، إجازات، أدوار وصلاحيات، وتكامل اختياري مع ZKTeco.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71800"/>
            <a:ext cx="466344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54512" y="2971800"/>
            <a:ext cx="109728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136392"/>
            <a:ext cx="4251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Project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38728"/>
            <a:ext cx="42519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مشاريع، حالات، use cases وربط مباشر مع الشركات والصفقات.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51960"/>
            <a:ext cx="466344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54512" y="4251960"/>
            <a:ext cx="109728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416552"/>
            <a:ext cx="4251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Support &amp;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18888"/>
            <a:ext cx="42519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تذاكر، شكاوى، مشتركين وبوابة للعميل لمتابعة عروضه وسجلاته.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Symfonix Business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بنية تقنية حديثة وقابلة للتطوير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0">
                <a:solidFill>
                  <a:srgbClr val="CBD5E1"/>
                </a:solidFill>
                <a:latin typeface="Arial"/>
              </a:rPr>
              <a:t>Laravel 13 مع وحدات مستقلة وواجهات مرنة للفريق التقني.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4892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91672" y="1508760"/>
            <a:ext cx="109728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73352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Laravel 13 + PHP 8.3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75688"/>
            <a:ext cx="448056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أساس حديث ومستقر للتطبيقات المؤسسية.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508760"/>
            <a:ext cx="4892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96712" y="1508760"/>
            <a:ext cx="10972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673352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nwidart/laravel-modules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075688"/>
            <a:ext cx="448056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تقسيم واضح لكل نطاق أعمال داخل Modules/.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34639"/>
            <a:ext cx="4892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91672" y="2834639"/>
            <a:ext cx="10972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999231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Inertia + Vue + Livewire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01567"/>
            <a:ext cx="448056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واجهات إدارة سريعة مع Blade وMetronic.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834639"/>
            <a:ext cx="4892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96712" y="2834639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999231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Spatie Permission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01567"/>
            <a:ext cx="448056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صلاحيات دقيقة group.tab.action.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160520"/>
            <a:ext cx="4892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91672" y="4160520"/>
            <a:ext cx="109728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325112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Redis + Queues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727448"/>
            <a:ext cx="448056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حملات، إشعارات، PDF وتحديثات أسعار خلفية.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60520"/>
            <a:ext cx="4892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96712" y="4160520"/>
            <a:ext cx="10972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325112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Localization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27448"/>
            <a:ext cx="448056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Arial"/>
              </a:rPr>
              <a:t>إنجليزي، عربي، تركي وألماني مع دعم RTL.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Symfonix Business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000" b="1">
                <a:solidFill>
                  <a:srgbClr val="0A0F1A"/>
                </a:solidFill>
                <a:latin typeface="Arial"/>
              </a:rPr>
              <a:t>القيمة المتوقعة للعميل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الهدف ليس إضافة نظام جديد، بل تقليل عدد الأنظمة المتفرقة وتوحيد التشغيل.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4892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91672" y="1645920"/>
            <a:ext cx="109728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10512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خفض التكاليف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48056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تقليل اشتراكات SaaS المتداخلة وتكاليف الربط والصيانة.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645920"/>
            <a:ext cx="4892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96712" y="164592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810512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قرارات أسرع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212848"/>
            <a:ext cx="448056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تقارير لحظية تربط المبيعات، المالية، العمليات والموظفين.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4892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91672" y="3200400"/>
            <a:ext cx="109728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364992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تحكم وملكية بيانات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67328"/>
            <a:ext cx="448056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استضافة ذاتية أو مدارة مع صلاحيات مركزية ومعلومات موحدة.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200400"/>
            <a:ext cx="4892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96712" y="3200400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364992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>
                <a:solidFill>
                  <a:srgbClr val="0A0F1A"/>
                </a:solidFill>
                <a:latin typeface="Arial"/>
              </a:rPr>
              <a:t>نمو بدون استبدال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67328"/>
            <a:ext cx="448056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ابدأ بالوحدات الأساسية ثم فعّل المزيد عند توسع الفرق والفروع.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166360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2760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200" b="1">
                <a:solidFill>
                  <a:srgbClr val="10B981"/>
                </a:solidFill>
                <a:latin typeface="Arial"/>
              </a:rPr>
              <a:t>أقل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69280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عمل يدوي وتكرار بيانات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5166360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52760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200" b="1">
                <a:solidFill>
                  <a:srgbClr val="3B82F6"/>
                </a:solidFill>
                <a:latin typeface="Arial"/>
              </a:rPr>
              <a:t>أسرع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669280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تنفيذ وقرار إداري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5166360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52760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200" b="1">
                <a:solidFill>
                  <a:srgbClr val="06B6D4"/>
                </a:solidFill>
                <a:latin typeface="Arial"/>
              </a:rPr>
              <a:t>أوضح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5669280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ملكية وصلاحيات وتقارير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5166360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52760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200" b="1">
                <a:solidFill>
                  <a:srgbClr val="F59E0B"/>
                </a:solidFill>
                <a:latin typeface="Arial"/>
              </a:rPr>
              <a:t>أكبر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669280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قابلية للتوسع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34747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Symfonix Business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جاهز للعرض التجريبي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0">
                <a:solidFill>
                  <a:srgbClr val="CBD5E1"/>
                </a:solidFill>
                <a:latin typeface="Arial"/>
              </a:rPr>
              <a:t>نقترح بدء العرض حول رحلة عميل كاملة: Lead → Quote → Project → Invoice →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657600"/>
            <a:ext cx="21488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794760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1">
                <a:solidFill>
                  <a:srgbClr val="06B6D4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187952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استعراض CRM وخط البيع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3657600"/>
            <a:ext cx="21488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794760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1">
                <a:solidFill>
                  <a:srgbClr val="06B6D4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187952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إنشاء عرض سعر وربطه بالعميل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657600"/>
            <a:ext cx="21488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794760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1">
                <a:solidFill>
                  <a:srgbClr val="06B6D4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187952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توليد مشروع وفاتورة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3657600"/>
            <a:ext cx="21488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3794760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1">
                <a:solidFill>
                  <a:srgbClr val="06B6D4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187952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عرض التقارير والصلاحيات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55080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عرض للعملاء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